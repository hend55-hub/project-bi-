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</p:sldMasterIdLst>
  <p:notesMasterIdLst>
    <p:notesMasterId r:id="rId2"/>
  </p:notesMasterIdLst>
  <p:sldIdLst>
    <p:sldId id="262" r:id="rId8"/>
    <p:sldId id="263" r:id="rId9"/>
    <p:sldId id="264" r:id="rId10"/>
    <p:sldId id="265" r:id="rId11"/>
    <p:sldId id="266" r:id="rId12"/>
    <p:sldId id="268" r:id="rId13"/>
    <p:sldId id="270" r:id="rId23"/>
    <p:sldId id="271" r:id="rId24"/>
    <p:sldId id="272" r:id="rId25"/>
    <p:sldId id="269" r:id="rId14"/>
  </p:sldIdLst>
  <p:sldSz type="screen16x9" cy="6858000" cx="12192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7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3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35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3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3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73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2" name="Google Shape;103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9" name="Google Shape;113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6" name="Google Shape;123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3" name="Google Shape;133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4" name="Google Shape;143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6" name="Google Shape;158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46" name="Google Shape;168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3" name="Google Shape;178;p8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9" name="Google Shape;189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74" name="Google Shape;199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0" name="Google Shape;212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5" name="Google Shape;221;p12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25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43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 lvl="8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86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47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8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9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40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57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1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62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3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pic>
        <p:nvPicPr>
          <p:cNvPr id="2097168" name="Google Shape;40;p1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/>
          <a:noFill/>
          <a:ln>
            <a:noFill/>
          </a:ln>
        </p:spPr>
      </p:pic>
      <p:pic>
        <p:nvPicPr>
          <p:cNvPr id="2097169" name="Google Shape;41;p17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/>
          <a:noFill/>
          <a:ln>
            <a:noFill/>
          </a:ln>
        </p:spPr>
      </p:pic>
      <p:sp>
        <p:nvSpPr>
          <p:cNvPr id="1048664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72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Google Shape;44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-6350" y="0"/>
            <a:ext cx="12192000" cy="6858000"/>
          </a:xfrm>
          <a:prstGeom prst="rect"/>
          <a:noFill/>
          <a:ln>
            <a:noFill/>
          </a:ln>
        </p:spPr>
      </p:pic>
      <p:pic>
        <p:nvPicPr>
          <p:cNvPr id="2097174" name="Google Shape;45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/>
          <a:noFill/>
          <a:ln>
            <a:noFill/>
          </a:ln>
        </p:spPr>
      </p:pic>
      <p:sp>
        <p:nvSpPr>
          <p:cNvPr id="1048712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3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714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5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ah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6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pic>
        <p:nvPicPr>
          <p:cNvPr id="2097175" name="Google Shape;51;p18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/>
          <a:noFill/>
          <a:ln>
            <a:noFill/>
          </a:ln>
        </p:spPr>
      </p:pic>
      <p:sp>
        <p:nvSpPr>
          <p:cNvPr id="1048717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ah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048718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67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7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8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89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0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1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73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0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721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722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723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724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5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6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74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8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algn="l" indent="-3810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algn="l" indent="-355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algn="l" indent="-355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729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8730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1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2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70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2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/>
          <a:noFill/>
          <a:ln>
            <a:noFill/>
          </a:ln>
        </p:spPr>
      </p:sp>
      <p:sp>
        <p:nvSpPr>
          <p:cNvPr id="1048703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8704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5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7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8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709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0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1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69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98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9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0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68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3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4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5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3.png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Google Shape;10;p1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/>
          <a:noFill/>
          <a:ln>
            <a:noFill/>
          </a:ln>
        </p:spPr>
      </p:pic>
      <p:pic>
        <p:nvPicPr>
          <p:cNvPr id="2097153" name="Google Shape;11;p1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4">
            <a:alphaModFix/>
          </a:blip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/>
          <a:noFill/>
          <a:ln>
            <a:noFill/>
          </a:ln>
        </p:spPr>
      </p:pic>
      <p:sp>
        <p:nvSpPr>
          <p:cNvPr id="1048576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ah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p>
            <a:endParaRPr lang="en-US"/>
          </a:p>
        </p:txBody>
      </p:sp>
      <p:sp>
        <p:nvSpPr>
          <p:cNvPr id="1048577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ah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p>
            <a:endParaRPr lang="en-US"/>
          </a:p>
        </p:txBody>
      </p:sp>
      <p:sp>
        <p:nvSpPr>
          <p:cNvPr id="1048578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sz="4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9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cap="none" sz="2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6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1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2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12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  <p:pic>
        <p:nvPicPr>
          <p:cNvPr id="2097154" name="Google Shape;13;p13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5">
            <a:alphaModFix/>
          </a:blip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/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1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7.png"/><Relationship Id="rId5" Type="http://schemas.openxmlformats.org/officeDocument/2006/relationships/image" Target="../media/dashboard_overview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10" Type="http://schemas.openxmlformats.org/officeDocument/2006/relationships/hyperlink" Target="https://app.powerbi.com/links/pe43NPpJJo?ctid=29d02b7a-fa50-40cc-8d1c-a452a519c6a5&amp;pbi_source=linkShare" TargetMode="Externa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11/30/25</a:t>
            </a:r>
          </a:p>
        </p:txBody>
      </p:sp>
      <p:sp>
        <p:nvSpPr>
          <p:cNvPr id="1048587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88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</a:p>
        </p:txBody>
      </p:sp>
      <p:sp>
        <p:nvSpPr>
          <p:cNvPr id="1048589" name="Google Shape;108;p1"/>
          <p:cNvSpPr txBox="1"/>
          <p:nvPr/>
        </p:nvSpPr>
        <p:spPr>
          <a:xfrm>
            <a:off x="971365" y="1093629"/>
            <a:ext cx="5473885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b="1" cap="none" dirty="0" sz="24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dirty="0"/>
          </a:p>
        </p:txBody>
      </p:sp>
      <p:sp>
        <p:nvSpPr>
          <p:cNvPr id="1048590" name="Google Shape;109;p1"/>
          <p:cNvSpPr txBox="1"/>
          <p:nvPr/>
        </p:nvSpPr>
        <p:spPr>
          <a:xfrm>
            <a:off x="971364" y="1753848"/>
            <a:ext cx="10382435" cy="416911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b="1" cap="none" dirty="0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Slide 1: Cover </a:t>
            </a:r>
            <a:endParaRPr b="0" cap="none" dirty="0" sz="20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Title: [Insert Project Title]</a:t>
            </a:r>
            <a:endParaRPr dirty="0"/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[Your Name]</a:t>
            </a:r>
            <a:endParaRPr dirty="0"/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[Date of Presentation]</a:t>
            </a:r>
            <a:endParaRPr dirty="0"/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b="1" cap="none" dirty="0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2: Project Idea</a:t>
            </a:r>
            <a:endParaRPr b="0" cap="none" dirty="0" sz="20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Brief description of the problem being solved</a:t>
            </a:r>
            <a:endParaRPr dirty="0"/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proposed solution (high-level idea)</a:t>
            </a:r>
            <a:endParaRPr dirty="0"/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Unique value proposition (Explain what makes your project stand out)</a:t>
            </a:r>
            <a:endParaRPr dirty="0"/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b="1" cap="none" dirty="0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Slide3: Project Wireframe </a:t>
            </a:r>
            <a:endParaRPr b="0" cap="none" dirty="0" sz="20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Visual representation of key user interfaces (e.g., homepage, dashboard)</a:t>
            </a:r>
            <a:endParaRPr dirty="0"/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Overview of user journey (from onboarding to core features) | </a:t>
            </a:r>
            <a:r>
              <a:rPr b="1" cap="none" dirty="0" sz="1800" i="0" lang="en-US" strike="noStrike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for software groups only</a:t>
            </a:r>
            <a:endParaRPr dirty="0"/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dirty="0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Focus on usability and user experience</a:t>
            </a:r>
            <a:endParaRPr dirty="0"/>
          </a:p>
          <a:p>
            <a:pPr algn="l" indent="-508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b="0" cap="none" dirty="0" sz="2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5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 lang="en-US"/>
              <a:t>11/30/25</a:t>
            </a:r>
            <a:endParaRPr dirty="0"/>
          </a:p>
        </p:txBody>
      </p:sp>
      <p:sp>
        <p:nvSpPr>
          <p:cNvPr id="1048594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5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</a:p>
        </p:txBody>
      </p:sp>
      <p:sp>
        <p:nvSpPr>
          <p:cNvPr id="1048596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b="1" cap="none" sz="24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b="1" cap="none" sz="24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597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92500" lnSpcReduction="20000"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4: End Users + Features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Define primary user personas (e.g., individuals, businesses, etc.)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features that address user needs (list the most critical functionalities)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Explain how the features solve the problems of each end-user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5: Data Structure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Description of the database architecture (e.g., relational, non-relational)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entities and relationships between data points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Data flow (how data is collected, stored, and accessed). </a:t>
            </a:r>
            <a:r>
              <a:rPr b="1" cap="none" sz="1800" i="0" lang="en-US" strike="noStrike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If you used CSV file, describe the features, the shape of data, balanced or not, used techniques, etc..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Final 6: Programming Languages + Frameworks</a:t>
            </a:r>
          </a:p>
          <a:p>
            <a:pPr algn="l" indent="-228600" lvl="0" marL="2286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the main programming languages used (e.g., Python, JavaScript)</a:t>
            </a:r>
          </a:p>
          <a:p>
            <a:pPr algn="l" indent="-228600" lvl="0" marL="2286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Highlight frameworks/tools used (e.g., Django, React)</a:t>
            </a:r>
          </a:p>
          <a:p>
            <a:pPr algn="l" indent="-228600" lvl="0" marL="228600" marR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Mention any supporting technologies (e.g., APIs, cloud platforms)</a:t>
            </a:r>
            <a:endParaRPr b="0" cap="none" sz="2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6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11/30/25</a:t>
            </a:r>
          </a:p>
        </p:txBody>
      </p:sp>
      <p:sp>
        <p:nvSpPr>
          <p:cNvPr id="1048601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2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</a:p>
        </p:txBody>
      </p:sp>
      <p:sp>
        <p:nvSpPr>
          <p:cNvPr id="1048603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b="1" cap="none" sz="24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b="1" cap="none" sz="24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04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92500" lnSpcReduction="20000"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7: Live Application + Test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current state of the live application (beta/production)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testing phases (unit testing, integration testing, user testing)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Feedback from users or quality assurance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8: Deliverables (Reports, etc.)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of reports and documentation to be provided (e.g., technical specs, user manuals)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Timeline for deliverables (milestones and deadlines)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Other final products (e.g., working app, source code repository)</a:t>
            </a:r>
          </a:p>
          <a:p>
            <a:pPr algn="l" indent="0" lvl="0" marL="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9: Project Team + Roles</a:t>
            </a:r>
            <a:endParaRPr b="1" cap="none" sz="18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core team members and their roles (e.g., developers, UX designers)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responsibilities for each team member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methods (e.g., communication tools, agile methodologies)</a:t>
            </a:r>
          </a:p>
        </p:txBody>
      </p:sp>
      <p:pic>
        <p:nvPicPr>
          <p:cNvPr id="2097157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11/30/25</a:t>
            </a:r>
          </a:p>
        </p:txBody>
      </p:sp>
      <p:sp>
        <p:nvSpPr>
          <p:cNvPr id="1048608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9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</a:p>
        </p:txBody>
      </p:sp>
      <p:sp>
        <p:nvSpPr>
          <p:cNvPr id="1048610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b="1" cap="none" sz="24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b="1" cap="none" sz="2400" i="0" strike="noStrike" u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11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b="1" cap="none" sz="20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Slide 10: Thank You 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Contact information for follow-up</a:t>
            </a:r>
          </a:p>
          <a:p>
            <a:pPr algn="l" indent="-22860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b="0" cap="none" sz="18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Invitation for questions or feedback</a:t>
            </a:r>
          </a:p>
        </p:txBody>
      </p:sp>
      <p:pic>
        <p:nvPicPr>
          <p:cNvPr id="2097158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11/30/25</a:t>
            </a:r>
          </a:p>
        </p:txBody>
      </p:sp>
      <p:sp>
        <p:nvSpPr>
          <p:cNvPr id="1048615" name="Google Shape;146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6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</a:p>
        </p:txBody>
      </p:sp>
      <p:sp>
        <p:nvSpPr>
          <p:cNvPr id="1048617" name="Google Shape;148;p5"/>
          <p:cNvSpPr txBox="1"/>
          <p:nvPr/>
        </p:nvSpPr>
        <p:spPr>
          <a:xfrm>
            <a:off x="323665" y="1347629"/>
            <a:ext cx="3111685" cy="3651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75000" lnSpcReduction="20000"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cap="none" sz="2200" i="0" lang="en-US" strike="noStrike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r>
              <a:rPr b="1" cap="none" sz="2200" i="0" lang="en-US" strike="noStrike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 Color Scheme </a:t>
            </a:r>
          </a:p>
        </p:txBody>
      </p:sp>
      <p:pic>
        <p:nvPicPr>
          <p:cNvPr id="2097159" name="Google Shape;149;p5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r="37210"/>
          <a:stretch>
            <a:fillRect/>
          </a:stretch>
        </p:blipFill>
        <p:spPr>
          <a:xfrm>
            <a:off x="3581401" y="833618"/>
            <a:ext cx="3259238" cy="5190763"/>
          </a:xfrm>
          <a:prstGeom prst="rect"/>
          <a:noFill/>
          <a:ln>
            <a:noFill/>
          </a:ln>
        </p:spPr>
      </p:pic>
      <p:sp>
        <p:nvSpPr>
          <p:cNvPr id="1048618" name="Google Shape;150;p5"/>
          <p:cNvSpPr txBox="1"/>
          <p:nvPr/>
        </p:nvSpPr>
        <p:spPr>
          <a:xfrm>
            <a:off x="4863564" y="2013995"/>
            <a:ext cx="1011815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800" i="0" lang="en-US" strike="noStrike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#047954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9" name="Google Shape;151;p5"/>
          <p:cNvSpPr txBox="1"/>
          <p:nvPr/>
        </p:nvSpPr>
        <p:spPr>
          <a:xfrm>
            <a:off x="4843718" y="3139510"/>
            <a:ext cx="1051506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sz="1800" i="0" lang="en-US" strike="noStrike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#0FAB7D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0" name="Google Shape;152;p5"/>
          <p:cNvSpPr txBox="1"/>
          <p:nvPr/>
        </p:nvSpPr>
        <p:spPr>
          <a:xfrm>
            <a:off x="4854747" y="4212613"/>
            <a:ext cx="1029449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sz="1800" i="0" lang="en-US" strike="noStrike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#336EA8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1" name="Google Shape;153;p5"/>
          <p:cNvSpPr txBox="1"/>
          <p:nvPr/>
        </p:nvSpPr>
        <p:spPr>
          <a:xfrm>
            <a:off x="4863564" y="5141039"/>
            <a:ext cx="1053494" cy="36933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sz="1800" i="0" lang="en-US" strike="noStrike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#D7B119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2" name="Google Shape;154;p5"/>
          <p:cNvSpPr txBox="1"/>
          <p:nvPr/>
        </p:nvSpPr>
        <p:spPr>
          <a:xfrm>
            <a:off x="317315" y="1754630"/>
            <a:ext cx="2743200" cy="1590321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 fontScale="97500"/>
          </a:bodyPr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sz="2000" lang="en-US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 xml:space="preserve">Note: </a:t>
            </a:r>
            <a:r>
              <a:rPr b="1" sz="2000" lang="en-US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This is the official</a:t>
            </a:r>
          </a:p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sz="2000" lang="en-US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 color scheme for DEPI</a:t>
            </a:r>
          </a:p>
          <a:p>
            <a:pPr algn="l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b="1" sz="2000" lang="en-US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 xml:space="preserve"> Feel free To use it  </a:t>
            </a:r>
            <a:endParaRPr b="1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60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000" b="1" dirty="0">
                <a:solidFill>
                  <a:srgbClr val="047954"/>
                </a:solidFill>
              </a:rPr>
              <a:t>Pharmaceutical Inventory &amp; Financial Risk Analytics</a:t>
            </a:r>
          </a:p>
        </p:txBody>
      </p:sp>
      <p:sp>
        <p:nvSpPr>
          <p:cNvPr id="104863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000" dirty="0">
                <a:solidFill>
                  <a:srgbClr val="336EA8"/>
                </a:solidFill>
              </a:rPr>
              <a:t>Power BI Dashboard for Inventory, Expiry &amp; Risk Mitigation</a:t>
            </a:r>
          </a:p>
          <a:p>
            <a:pPr algn="ctr" indent="0" lvl="0" marL="0" rtl="0">
              <a:spcBef>
                <a:spcPts val="1200"/>
              </a:spcBef>
              <a:buNone/>
            </a:pPr>
            <a:r>
              <a:rPr lang="en-US" sz="1400" b="1" dirty="0">
                <a:solidFill>
                  <a:srgbClr val="595959"/>
                </a:solidFill>
              </a:rPr>
              <a:t>Team: Rana Essam • Youssef Sami • Hend Khaled • Mahmoud Allam</a:t>
            </a:r>
          </a:p>
          <a:p>
            <a:pPr algn="ctr" indent="0" lvl="0" marL="0" rt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595959"/>
                </a:solidFill>
              </a:rPr>
              <a:t>DEPI Program • Data Analytics Track • July 2026</a:t>
            </a:r>
          </a:p>
        </p:txBody>
      </p:sp>
      <p:sp>
        <p:nvSpPr>
          <p:cNvPr id="104863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3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</a:p>
        </p:txBody>
      </p:sp>
      <p:sp>
        <p:nvSpPr>
          <p:cNvPr id="1048640" name="TopAccentBar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gradFill>
            <a:gsLst>
              <a:gs pos="0">
                <a:srgbClr val="047954"/>
              </a:gs>
              <a:gs pos="40000">
                <a:srgbClr val="0FAB7D"/>
              </a:gs>
              <a:gs pos="70000">
                <a:srgbClr val="336EA8"/>
              </a:gs>
              <a:gs pos="100000">
                <a:srgbClr val="D7B119"/>
              </a:gs>
            </a:gsLst>
            <a:lin ang="0" scaled="0"/>
          </a:gradFill>
          <a:ln>
            <a:noFill/>
          </a:ln>
        </p:spPr>
        <p:txBody>
          <a:bodyPr/>
          <a:p>
            <a:endParaRPr lang="en-US"/>
          </a:p>
        </p:txBody>
      </p:sp>
      <p:pic>
        <p:nvPicPr>
          <p:cNvPr id="2097161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170;p7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rgbClr val="047954"/>
                </a:solidFill>
              </a:rPr>
              <a:t>The Project Idea</a:t>
            </a:r>
          </a:p>
        </p:txBody>
      </p:sp>
      <p:sp>
        <p:nvSpPr>
          <p:cNvPr id="1048642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43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44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</a:p>
        </p:txBody>
      </p:sp>
      <p:sp>
        <p:nvSpPr>
          <p:cNvPr id="2097170" name="ProblemCard"/>
          <p:cNvSpPr/>
          <p:nvPr/>
        </p:nvSpPr>
        <p:spPr>
          <a:xfrm>
            <a:off x="609600" y="1600200"/>
            <a:ext cx="5334000" cy="4300000"/>
          </a:xfrm>
          <a:prstGeom prst="roundRect">
            <a:avLst>
              <a:gd name="adj" fmla="val 4000"/>
            </a:avLst>
          </a:prstGeom>
          <a:solidFill>
            <a:srgbClr val="FBF3F1"/>
          </a:solidFill>
          <a:ln w="0">
            <a:noFill/>
          </a:ln>
        </p:spPr>
        <p:txBody>
          <a:bodyPr lIns="365760" tIns="320000" rIns="274320" bIns="180000" anchor="t" wrap="square">
            <a:normAutofit/>
          </a:bodyPr>
          <a:p>
            <a:pPr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C0392B"/>
                </a:solidFill>
              </a:rPr>
              <a:t>The Core Problem</a:t>
            </a:r>
          </a:p>
          <a:p>
            <a:pPr algn="l">
              <a:spcAft>
                <a:spcPts val="1000"/>
              </a:spcAft>
              <a:buNone/>
            </a:pPr>
            <a:endParaRPr lang="en-US" sz="600"/>
          </a:p>
          <a:p>
            <a:pPr algn="l"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404040"/>
                </a:solidFill>
              </a:rPr>
              <a:t xml:space="preserve">The pharmacy warehouse achieves </a:t>
            </a:r>
            <a:r>
              <a:rPr lang="en-US" sz="1500" b="1" dirty="0">
                <a:solidFill>
                  <a:srgbClr val="047954"/>
                </a:solidFill>
              </a:rPr>
              <a:t>$185.94M in Total Sales</a:t>
            </a:r>
            <a:r>
              <a:rPr lang="en-US" sz="1500" dirty="0">
                <a:solidFill>
                  <a:srgbClr val="404040"/>
                </a:solidFill>
              </a:rPr>
              <a:t xml:space="preserve"> with a healthy 25.88% gross margin, yet still records a </a:t>
            </a:r>
            <a:r>
              <a:rPr lang="en-US" sz="1500" b="1" dirty="0">
                <a:solidFill>
                  <a:srgbClr val="C0392B"/>
                </a:solidFill>
              </a:rPr>
              <a:t>Net Loss of $27.16M</a:t>
            </a:r>
            <a:r>
              <a:rPr lang="en-US" sz="1500" dirty="0">
                <a:solidFill>
                  <a:srgbClr val="404040"/>
                </a:solidFill>
              </a:rPr>
              <a:t>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>This "Profitability Paradox" is driven by $75.52M in storage/holding expenses and $56.41M in inventory waste (expiry, damage, and cold chain failure) — a direct result of poor stock rotation and weak visibility into shelf-life risk.</a:t>
            </a:r>
          </a:p>
        </p:txBody>
      </p:sp>
      <p:sp>
        <p:nvSpPr>
          <p:cNvPr id="2097171" name="SolutionCard"/>
          <p:cNvSpPr/>
          <p:nvPr/>
        </p:nvSpPr>
        <p:spPr>
          <a:xfrm>
            <a:off x="6248400" y="1600200"/>
            <a:ext cx="5334000" cy="4300000"/>
          </a:xfrm>
          <a:prstGeom prst="roundRect">
            <a:avLst>
              <a:gd name="adj" fmla="val 4000"/>
            </a:avLst>
          </a:prstGeom>
          <a:solidFill>
            <a:srgbClr val="EEF7F3"/>
          </a:solidFill>
          <a:ln w="0">
            <a:noFill/>
          </a:ln>
        </p:spPr>
        <p:txBody>
          <a:bodyPr lIns="365760" tIns="320000" rIns="274320" bIns="180000" anchor="t" wrap="square">
            <a:normAutofit/>
          </a:bodyPr>
          <a:p>
            <a:pPr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47954"/>
                </a:solidFill>
              </a:rPr>
              <a:t>The Proposed Solution</a:t>
            </a:r>
          </a:p>
          <a:p>
            <a:pPr algn="l">
              <a:spcAft>
                <a:spcPts val="1000"/>
              </a:spcAft>
              <a:buNone/>
            </a:pPr>
            <a:endParaRPr lang="en-US" sz="600"/>
          </a:p>
          <a:p>
            <a:pPr algn="l"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404040"/>
                </a:solidFill>
              </a:rPr>
              <a:t xml:space="preserve">An interactive </a:t>
            </a:r>
            <a:r>
              <a:rPr lang="en-US" sz="1500" b="1" dirty="0">
                <a:solidFill>
                  <a:srgbClr val="336EA8"/>
                </a:solidFill>
              </a:rPr>
              <a:t>Power BI dashboard</a:t>
            </a:r>
            <a:r>
              <a:rPr lang="en-US" sz="1500" dirty="0">
                <a:solidFill>
                  <a:srgbClr val="404040"/>
                </a:solidFill>
              </a:rPr>
              <a:t xml:space="preserve"> built on a Star Schema data model, integrating inventory, sales, purchases, and waste data into a single source of truth.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</a:rPr>
              <a:t xml:space="preserve">By classifying risk into live action tiers, the dashboard enables </a:t>
            </a:r>
            <a:r>
              <a:rPr lang="en-US" sz="1500" b="1" dirty="0">
                <a:solidFill>
                  <a:srgbClr val="047954"/>
                </a:solidFill>
              </a:rPr>
              <a:t>FEFO (First Expired, First Out)</a:t>
            </a:r>
            <a:r>
              <a:rPr lang="en-US" sz="1500" dirty="0">
                <a:solidFill>
                  <a:srgbClr val="404040"/>
                </a:solidFill>
              </a:rPr>
              <a:t xml:space="preserve"> dispensing, faster stock turnover, and converts the $56M waste leakage into recovered profit.</a:t>
            </a:r>
          </a:p>
        </p:txBody>
      </p:sp>
      <p:pic>
        <p:nvPicPr>
          <p:cNvPr id="2097163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180;p8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rgbClr val="047954"/>
                </a:solidFill>
              </a:rPr>
              <a:t>Dashboard User Journey</a:t>
            </a:r>
          </a:p>
        </p:txBody>
      </p:sp>
      <p:sp>
        <p:nvSpPr>
          <p:cNvPr id="1048648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49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0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</a:p>
        </p:txBody>
      </p:sp>
      <p:pic>
        <p:nvPicPr>
          <p:cNvPr id="2097164" name="DashboardScreenshot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/>
          <a:srcRect/>
          <a:stretch>
            <a:fillRect/>
          </a:stretch>
        </p:blipFill>
        <p:spPr>
          <a:xfrm>
            <a:off x="609600" y="1550000"/>
            <a:ext cx="6350000" cy="3479100"/>
          </a:xfrm>
          <a:prstGeom prst="roundRect">
            <a:avLst>
              <a:gd name="adj" fmla="val 2000"/>
            </a:avLst>
          </a:prstGeom>
          <a:ln w="19050" cap="sq" cmpd="sng">
            <a:solidFill>
              <a:srgbClr val="336EA8"/>
            </a:solidFill>
            <a:prstDash val="solid"/>
          </a:ln>
          <a:effectLst>
            <a:outerShdw blurRad="127000" dir="5400000" dist="38100" rotWithShape="0">
              <a:srgbClr val="000000">
                <a:alpha val="25000"/>
              </a:srgbClr>
            </a:outerShdw>
          </a:effectLst>
        </p:spPr>
      </p:pic>
      <p:sp>
        <p:nvSpPr>
          <p:cNvPr id="1048651" name="UXFocusBox"/>
          <p:cNvSpPr/>
          <p:nvPr/>
        </p:nvSpPr>
        <p:spPr>
          <a:xfrm>
            <a:off x="7220000" y="1550000"/>
            <a:ext cx="4362800" cy="4350000"/>
          </a:xfrm>
          <a:prstGeom prst="rect">
            <a:avLst/>
          </a:prstGeom>
          <a:noFill/>
          <a:ln>
            <a:noFill/>
          </a:ln>
        </p:spPr>
        <p:txBody>
          <a:bodyPr anchor="t" wrap="square" lIns="0" tIns="0">
            <a:normAutofit/>
          </a:bodyPr>
          <a:p>
            <a:pPr algn="l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UX &amp; Usability Focus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→"/>
            </a:pPr>
            <a:r>
              <a:rPr lang="en-US" sz="1400" b="1" dirty="0">
                <a:solidFill>
                  <a:srgbClr val="047954"/>
                </a:solidFill>
              </a:rPr>
              <a:t xml:space="preserve">Tab Navigation: </a:t>
            </a:r>
            <a:r>
              <a:rPr lang="en-US" sz="1400" dirty="0">
                <a:solidFill>
                  <a:srgbClr val="404040"/>
                </a:solidFill>
              </a:rPr>
              <a:t>Seamless switch between Overview, Inventory, Financial and Risk views.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→"/>
            </a:pPr>
            <a:r>
              <a:rPr lang="en-US" sz="1400" b="1" dirty="0">
                <a:solidFill>
                  <a:srgbClr val="047954"/>
                </a:solidFill>
              </a:rPr>
              <a:t xml:space="preserve">Unified Slicers: </a:t>
            </a:r>
            <a:r>
              <a:rPr lang="en-US" sz="1400" dirty="0">
                <a:solidFill>
                  <a:srgbClr val="404040"/>
                </a:solidFill>
              </a:rPr>
              <a:t>Filter by Month and Storage Type to detect localized expiry bottlenecks.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→"/>
            </a:pPr>
            <a:r>
              <a:rPr lang="en-US" sz="1400" b="1" dirty="0">
                <a:solidFill>
                  <a:srgbClr val="047954"/>
                </a:solidFill>
              </a:rPr>
              <a:t xml:space="preserve">Risk Color Coding: </a:t>
            </a:r>
            <a:r>
              <a:rPr lang="en-US" sz="1400" dirty="0">
                <a:solidFill>
                  <a:srgbClr val="404040"/>
                </a:solidFill>
              </a:rPr>
              <a:t>Red/green highlights draw immediate focus to critical stock points.</a:t>
            </a:r>
          </a:p>
          <a:p>
            <a:pPr algn="l" marL="228600" indent="-228600">
              <a:lnSpc>
                <a:spcPct val="115000"/>
              </a:lnSpc>
              <a:buFont typeface="Arial"/>
              <a:buChar char="→"/>
            </a:pPr>
            <a:r>
              <a:rPr lang="en-US" sz="1400" b="1" dirty="0">
                <a:solidFill>
                  <a:srgbClr val="047954"/>
                </a:solidFill>
              </a:rPr>
              <a:t xml:space="preserve">Top Products List: </a:t>
            </a:r>
            <a:r>
              <a:rPr lang="en-US" sz="1400" dirty="0">
                <a:solidFill>
                  <a:srgbClr val="404040"/>
                </a:solidFill>
              </a:rPr>
              <a:t>Keeps focus on the highest-velocity revenue drivers.</a:t>
            </a:r>
          </a:p>
        </p:txBody>
      </p:sp>
      <p:pic>
        <p:nvPicPr>
          <p:cNvPr id="2097165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191;p9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rgbClr val="047954"/>
                </a:solidFill>
              </a:rPr>
              <a:t>End Users &amp; Key Features</a:t>
            </a:r>
          </a:p>
        </p:txBody>
      </p:sp>
      <p:sp>
        <p:nvSpPr>
          <p:cNvPr id="1048655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56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7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</a:p>
        </p:txBody>
      </p:sp>
      <p:sp>
        <p:nvSpPr>
          <p:cNvPr id="3097001" name="Card3097001"/>
          <p:cNvSpPr/>
          <p:nvPr/>
        </p:nvSpPr>
        <p:spPr>
          <a:xfrm>
            <a:off x="609600" y="1650000"/>
            <a:ext cx="3550000" cy="420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Pharmacists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Instantly identifies medications with ≤ 30 days to expiry.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One-click action to move items to the priority dispensing counter (FEFO).</a:t>
            </a:r>
          </a:p>
        </p:txBody>
      </p:sp>
      <p:sp>
        <p:nvSpPr>
          <p:cNvPr id="3097002" name="Card3097002"/>
          <p:cNvSpPr/>
          <p:nvPr/>
        </p:nvSpPr>
        <p:spPr>
          <a:xfrm>
            <a:off x="4359600" y="1650000"/>
            <a:ext cx="3550000" cy="420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Pharmacy Owners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Tracks the full P&amp;L chain: Sales ($185.94M), Gross Profit ($48.11M), Net Loss (-$27.16M).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Sees exactly where holding cost and waste are eroding margin.</a:t>
            </a:r>
          </a:p>
        </p:txBody>
      </p:sp>
      <p:sp>
        <p:nvSpPr>
          <p:cNvPr id="3097003" name="Card3097003"/>
          <p:cNvSpPr/>
          <p:nvPr/>
        </p:nvSpPr>
        <p:spPr>
          <a:xfrm>
            <a:off x="8109600" y="1650000"/>
            <a:ext cx="3550000" cy="4200000"/>
          </a:xfrm>
          <a:prstGeom prst="roundRect">
            <a:avLst>
              <a:gd name="adj" fmla="val 5000"/>
            </a:avLst>
          </a:prstGeom>
          <a:solidFill>
            <a:srgbClr val="FBF6E9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D7B119"/>
                </a:solidFill>
              </a:rPr>
              <a:t>Inventory Managers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Monitors Inventory Turnover and Days of Inventory to flag over-ordering.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Uses Reorder Point alerts to avoid both stockouts and dead stock.</a:t>
            </a:r>
          </a:p>
        </p:txBody>
      </p:sp>
      <p:pic>
        <p:nvPicPr>
          <p:cNvPr id="2097167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l" indent="0" lvl="0" marL="0" rtl="0">
              <a:buNone/>
            </a:pPr>
            <a:r>
              <a:rPr lang="en-US" sz="3200" b="1" dirty="0">
                <a:solidFill>
                  <a:srgbClr val="047954"/>
                </a:solidFill>
              </a:rPr>
              <a:t>Database &amp; Modeling Structure</a:t>
            </a:r>
          </a:p>
        </p:txBody>
      </p:sp>
      <p:sp>
        <p:nvSpPr>
          <p:cNvPr id="1048666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67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buNone/>
            </a:pPr>
          </a:p>
        </p:txBody>
      </p:sp>
      <p:sp>
        <p:nvSpPr>
          <p:cNvPr id="1048668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buNone/>
            </a:pPr>
            <a:fld id="{00000000-1234-1234-1234-123412341234}" type="slidenum">
              <a:rPr lang="en-US"/>
              <a:t>10</a:t>
            </a:fld>
          </a:p>
        </p:txBody>
      </p:sp>
      <p:sp>
        <p:nvSpPr>
          <p:cNvPr id="3097010" name="DimCard"/>
          <p:cNvSpPr/>
          <p:nvPr/>
        </p:nvSpPr>
        <p:spPr>
          <a:xfrm>
            <a:off x="609600" y="1500000"/>
            <a:ext cx="5486400" cy="445000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0">
            <a:noFill/>
          </a:ln>
        </p:spPr>
        <p:txBody>
          <a:bodyPr lIns="320000" tIns="280000" rIns="228600" bIns="228600" anchor="t" wrap="square">
            <a:normAutofit/>
          </a:bodyPr>
          <a:p>
            <a:pPr algn="l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336EA8"/>
                </a:solidFill>
              </a:rPr>
              <a:t>Dimension Tables (Context)</a:t>
            </a:r>
          </a:p>
          <a:p>
            <a:pPr algn="l" marL="228600" indent="-22860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400" b="1" dirty="0">
                <a:solidFill>
                  <a:srgbClr val="047954"/>
                </a:solidFill>
              </a:rPr>
              <a:t xml:space="preserve">Dim_Product </a:t>
            </a:r>
            <a:r>
              <a:rPr lang="en-US" sz="1400" dirty="0">
                <a:solidFill>
                  <a:srgbClr val="404040"/>
                </a:solidFill>
              </a:rPr>
              <a:t>– Product_ID, Category, Batch_Number, Purchase/Selling Price, Reorder_Level, Shelf_Life_Days</a:t>
            </a:r>
          </a:p>
          <a:p>
            <a:pPr algn="l" marL="228600" indent="-228600">
              <a:lnSpc>
                <a:spcPct val="112000"/>
              </a:lnSpc>
              <a:spcAft>
                <a:spcPts val="900"/>
              </a:spcAft>
              <a:buFont typeface="Arial"/>
              <a:buChar char="•"/>
            </a:pPr>
            <a:r>
              <a:rPr lang="en-US" sz="1400" b="1" dirty="0">
                <a:solidFill>
                  <a:srgbClr val="047954"/>
                </a:solidFill>
              </a:rPr>
              <a:t xml:space="preserve">Dim_Supplier </a:t>
            </a:r>
            <a:r>
              <a:rPr lang="en-US" sz="1400" dirty="0">
                <a:solidFill>
                  <a:srgbClr val="404040"/>
                </a:solidFill>
              </a:rPr>
              <a:t>– Supplier_ID, Lead_Time_Days, City, Supplier Risk Loss</a:t>
            </a:r>
          </a:p>
          <a:p>
            <a:pPr algn="l" marL="228600" indent="-22860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400" b="1" dirty="0">
                <a:solidFill>
                  <a:srgbClr val="047954"/>
                </a:solidFill>
              </a:rPr>
              <a:t xml:space="preserve">Dim_Date </a:t>
            </a:r>
            <a:r>
              <a:rPr lang="en-US" sz="1400" dirty="0">
                <a:solidFill>
                  <a:srgbClr val="404040"/>
                </a:solidFill>
              </a:rPr>
              <a:t>– Date_ID, Day, Month, Quarter, Year</a:t>
            </a:r>
          </a:p>
          <a:p>
            <a:pPr algn="l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95959"/>
                </a:solidFill>
              </a:rPr>
              <a:t>All relationships: 1:∞ from dimensions to facts, with enforced referential integrity.</a:t>
            </a:r>
          </a:p>
        </p:txBody>
      </p:sp>
      <p:sp>
        <p:nvSpPr>
          <p:cNvPr id="3097011" name="FactCard"/>
          <p:cNvSpPr/>
          <p:nvPr/>
        </p:nvSpPr>
        <p:spPr>
          <a:xfrm>
            <a:off x="6248400" y="1500000"/>
            <a:ext cx="5334000" cy="4450000"/>
          </a:xfrm>
          <a:prstGeom prst="roundRect">
            <a:avLst>
              <a:gd name="adj" fmla="val 3500"/>
            </a:avLst>
          </a:prstGeom>
          <a:solidFill>
            <a:srgbClr val="EEF7F3"/>
          </a:solidFill>
          <a:ln w="0">
            <a:noFill/>
          </a:ln>
        </p:spPr>
        <p:txBody>
          <a:bodyPr lIns="320000" tIns="280000" rIns="228600" bIns="228600" anchor="t" wrap="square">
            <a:normAutofit/>
          </a:bodyPr>
          <a:p>
            <a:pPr algn="l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047954"/>
                </a:solidFill>
              </a:rPr>
              <a:t>Fact Tables (Transactions)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1" dirty="0">
                <a:solidFill>
                  <a:srgbClr val="336EA8"/>
                </a:solidFill>
              </a:rPr>
              <a:t xml:space="preserve">Fact_Sales </a:t>
            </a:r>
            <a:r>
              <a:rPr lang="en-US" sz="1400" dirty="0">
                <a:solidFill>
                  <a:srgbClr val="404040"/>
                </a:solidFill>
              </a:rPr>
              <a:t>– Quantity_Sold, Total_Revenue, COGS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1" dirty="0">
                <a:solidFill>
                  <a:srgbClr val="336EA8"/>
                </a:solidFill>
              </a:rPr>
              <a:t xml:space="preserve">Fact_Purchases </a:t>
            </a:r>
            <a:r>
              <a:rPr lang="en-US" sz="1400" dirty="0">
                <a:solidFill>
                  <a:srgbClr val="404040"/>
                </a:solidFill>
              </a:rPr>
              <a:t>– Quantity_Purchased, Unit_Cost</a:t>
            </a:r>
          </a:p>
          <a:p>
            <a:pPr algn="l" marL="228600" indent="-228600">
              <a:lnSpc>
                <a:spcPct val="1120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b="1" dirty="0">
                <a:solidFill>
                  <a:srgbClr val="336EA8"/>
                </a:solidFill>
              </a:rPr>
              <a:t xml:space="preserve">Fact_Inventory </a:t>
            </a:r>
            <a:r>
              <a:rPr lang="en-US" sz="1400" dirty="0">
                <a:solidFill>
                  <a:srgbClr val="404040"/>
                </a:solidFill>
              </a:rPr>
              <a:t>– Quantity_On_Hand, Storage_Cost_per_Unit</a:t>
            </a:r>
          </a:p>
          <a:p>
            <a:pPr algn="l" marL="228600" indent="-22860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lang="en-US" sz="1400" b="1" dirty="0">
                <a:solidFill>
                  <a:srgbClr val="336EA8"/>
                </a:solidFill>
              </a:rPr>
              <a:t xml:space="preserve">Fact_Waste </a:t>
            </a:r>
            <a:r>
              <a:rPr lang="en-US" sz="1400" dirty="0">
                <a:solidFill>
                  <a:srgbClr val="404040"/>
                </a:solidFill>
              </a:rPr>
              <a:t>– Quantity_Expired, Loss_Value, Reason</a:t>
            </a:r>
          </a:p>
          <a:p>
            <a:pPr algn="l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595959"/>
                </a:solidFill>
              </a:rPr>
              <a:t>Built and modeled in Power BI using Power Query + DAX on a Star Schema.</a:t>
            </a:r>
          </a:p>
        </p:txBody>
      </p:sp>
      <p:pic>
        <p:nvPicPr>
          <p:cNvPr id="2097170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wrap="square">
            <a:normAutofit/>
          </a:bodyPr>
          <a:p>
            <a:pPr algn="l">
              <a:buNone/>
            </a:pPr>
            <a:r>
              <a:rPr lang="en-US" sz="3200" b="1" dirty="0">
                <a:solidFill>
                  <a:srgbClr val="047954"/>
                </a:solidFill>
              </a:rPr>
              <a:t>Technology Stack &amp; Tools</a:t>
            </a:r>
          </a:p>
        </p:txBody>
      </p:sp>
      <p:sp>
        <p:nvSpPr>
          <p:cNvPr id="1048681" name="Date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82" name="Footer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ctr">
              <a:buNone/>
            </a:pPr>
          </a:p>
        </p:txBody>
      </p:sp>
      <p:sp>
        <p:nvSpPr>
          <p:cNvPr id="1048683" name="Slide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r">
              <a:buNone/>
            </a:pPr>
            <a:fld id="{00000000-1234-1234-1234-123412341234}" type="slidenum">
              <a:rPr lang="en-US"/>
              <a:t>11</a:t>
            </a:fld>
          </a:p>
        </p:txBody>
      </p:sp>
      <p:sp>
        <p:nvSpPr>
          <p:cNvPr id="4097001" name="Card4097001"/>
          <p:cNvSpPr/>
          <p:nvPr/>
        </p:nvSpPr>
        <p:spPr>
          <a:xfrm>
            <a:off x="609600" y="1650000"/>
            <a:ext cx="3550000" cy="420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Power BI Desktop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Interactive dashboard canvas: custom theme, 4-tab layout, trend lines and slicers.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Star Schema data model with enforced 1:∞ relationships.</a:t>
            </a:r>
          </a:p>
        </p:txBody>
      </p:sp>
      <p:sp>
        <p:nvSpPr>
          <p:cNvPr id="4097002" name="Card4097002"/>
          <p:cNvSpPr/>
          <p:nvPr/>
        </p:nvSpPr>
        <p:spPr>
          <a:xfrm>
            <a:off x="4359600" y="1650000"/>
            <a:ext cx="3550000" cy="420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Excel &amp; Power Query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Data cleaning: removed errors, empty records, normalized data shapes.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ETL layer feeding Fact_Sales, Fact_Purchases, Fact_Inventory and Fact_Waste.</a:t>
            </a:r>
          </a:p>
        </p:txBody>
      </p:sp>
      <p:sp>
        <p:nvSpPr>
          <p:cNvPr id="4097003" name="Card4097003"/>
          <p:cNvSpPr/>
          <p:nvPr/>
        </p:nvSpPr>
        <p:spPr>
          <a:xfrm>
            <a:off x="8109600" y="1650000"/>
            <a:ext cx="3550000" cy="4200000"/>
          </a:xfrm>
          <a:prstGeom prst="roundRect">
            <a:avLst>
              <a:gd name="adj" fmla="val 5000"/>
            </a:avLst>
          </a:prstGeom>
          <a:solidFill>
            <a:srgbClr val="FBF6E9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D7B119"/>
                </a:solidFill>
              </a:rPr>
              <a:t>DAX &amp; Modeling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Core measures: Gross Margin, Total Storage Expense, Total Waste, Net Profit.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Supply-chain metrics: Inventory Turnover, Days of Inventory, Reorder Point.</a:t>
            </a:r>
          </a:p>
        </p:txBody>
      </p:sp>
      <p:pic>
        <p:nvPicPr>
          <p:cNvPr id="2097180" name="Logo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82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3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</a:p>
        </p:txBody>
      </p:sp>
      <p:sp>
        <p:nvSpPr>
          <p:cNvPr id="3097030" name="ThankYouTitle"/>
          <p:cNvSpPr/>
          <p:nvPr/>
        </p:nvSpPr>
        <p:spPr>
          <a:xfrm>
            <a:off x="1596000" y="2400000"/>
            <a:ext cx="9000000" cy="1400000"/>
          </a:xfrm>
          <a:prstGeom prst="rect">
            <a:avLst/>
          </a:prstGeom>
          <a:noFill/>
          <a:ln>
            <a:noFill/>
          </a:ln>
        </p:spPr>
        <p:txBody>
          <a:bodyPr anchor="ctr" wrap="square"/>
          <a:p>
            <a:pPr algn="ctr">
              <a:buNone/>
            </a:pPr>
            <a:r>
              <a:rPr lang="en-US" sz="4400" b="1" dirty="0">
                <a:solidFill>
                  <a:srgbClr val="047954"/>
                </a:solidFill>
              </a:rPr>
              <a:t>Thank You!</a:t>
            </a:r>
          </a:p>
        </p:txBody>
      </p:sp>
      <p:sp>
        <p:nvSpPr>
          <p:cNvPr id="3097031" name="ThankYouSub"/>
          <p:cNvSpPr/>
          <p:nvPr/>
        </p:nvSpPr>
        <p:spPr>
          <a:xfrm>
            <a:off x="1596000" y="375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anchor="t" wrap="square"/>
          <a:p>
            <a:pPr algn="ctr">
              <a:spcAft>
                <a:spcPts val="600"/>
              </a:spcAft>
              <a:buNone/>
            </a:pPr>
            <a:r>
              <a:rPr lang="en-US" sz="1800" dirty="0">
                <a:solidFill>
                  <a:srgbClr val="336EA8"/>
                </a:solidFill>
              </a:rPr>
              <a:t>Any questions or feedback?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595959"/>
                </a:solidFill>
              </a:rPr>
              <a:t>Rana Essam • Youssef Sami • Hend Khaled • Mahmoud Allam</a:t>
            </a:r>
          </a:p>
          <a:p>
            <a:pPr algn="ctr">
              <a:buNone/>
            </a:pPr>
            <a:r>
              <a:rPr lang="en-US" sz="1400" dirty="0">
                <a:solidFill>
                  <a:srgbClr val="595959"/>
                </a:solidFill>
              </a:rPr>
              <a:t>DEPI Program • Data Analytics Track</a:t>
            </a:r>
          </a:p>
        </p:txBody>
      </p:sp>
      <p:pic>
        <p:nvPicPr>
          <p:cNvPr id="2097172" name="Google Shape;110;p1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wrap="square">
            <a:normAutofit/>
          </a:bodyPr>
          <a:p>
            <a:pPr algn="l">
              <a:buNone/>
            </a:pPr>
            <a:r>
              <a:rPr lang="en-US" sz="3200" b="1" dirty="0">
                <a:solidFill>
                  <a:srgbClr val="047954"/>
                </a:solidFill>
              </a:rPr>
              <a:t>Live Application &amp; Testing</a:t>
            </a:r>
          </a:p>
        </p:txBody>
      </p:sp>
      <p:sp>
        <p:nvSpPr>
          <p:cNvPr id="1048691" name="Date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692" name="Footer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ctr">
              <a:buNone/>
            </a:pPr>
          </a:p>
        </p:txBody>
      </p:sp>
      <p:sp>
        <p:nvSpPr>
          <p:cNvPr id="1048693" name="Slide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r">
              <a:buNone/>
            </a:pPr>
            <a:fld id="{00000000-1234-1234-1234-123412341234}" type="slidenum">
              <a:rPr lang="en-US"/>
              <a:t>13</a:t>
            </a:fld>
          </a:p>
        </p:txBody>
      </p:sp>
      <p:sp>
        <p:nvSpPr>
          <p:cNvPr id="5097001" name="Card5097001"/>
          <p:cNvSpPr/>
          <p:nvPr/>
        </p:nvSpPr>
        <p:spPr>
          <a:xfrm>
            <a:off x="609600" y="1600000"/>
            <a:ext cx="5334000" cy="430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Current State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The Power BI dashboard is complete and ready for final presentation — all 4 pages (Overview, Inventory, Financial, Risk) are fully built and interactive.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All DAX measures are validated: Gross Margin (25.88%) and Net Loss (-$27.16M) match the underlying source data.</a:t>
            </a:r>
          </a:p>
          <a:p>
            <a:pPr algn="l" marL="0" indent="0">
              <a:lnSpc>
                <a:spcPct val="115000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336EA8"/>
                </a:solidFill>
              </a:rPr>
              <a:t xml:space="preserve">Live Dashboard: </a:t>
            </a:r>
            <a:r>
              <a:rPr lang="en-US" sz="1300" u="sng" dirty="0">
                <a:solidFill>
                  <a:srgbClr val="336EA8"/>
                </a:solidFill>
                <a:hlinkClick xmlns:r="http://schemas.openxmlformats.org/officeDocument/2006/relationships" r:id="rId10"/>
              </a:rPr>
              <a:t>app.powerbi.com/links/pe43NPpJJo</a:t>
            </a:r>
          </a:p>
        </p:txBody>
      </p:sp>
      <p:sp>
        <p:nvSpPr>
          <p:cNvPr id="5097002" name="Card5097002"/>
          <p:cNvSpPr/>
          <p:nvPr/>
        </p:nvSpPr>
        <p:spPr>
          <a:xfrm>
            <a:off x="6248400" y="1600000"/>
            <a:ext cx="5334000" cy="430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Testing Approach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Testing was conducted internally between the 4 team members, simulating daily pharmacist and manager workflows.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Responsiveness: verified fast refresh when slicing by Month and Storage Type.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Fidelity: confirmed accurate cross-filtering on category and tab clicks.</a:t>
            </a:r>
          </a:p>
        </p:txBody>
      </p:sp>
      <p:pic>
        <p:nvPicPr>
          <p:cNvPr id="2097190" name="Logo"/>
          <p:cNvPicPr preferRelativeResize="0"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wrap="square">
            <a:normAutofit/>
          </a:bodyPr>
          <a:p>
            <a:pPr algn="l">
              <a:buNone/>
            </a:pPr>
            <a:r>
              <a:rPr lang="en-US" sz="3200" b="1" dirty="0">
                <a:solidFill>
                  <a:srgbClr val="047954"/>
                </a:solidFill>
              </a:rPr>
              <a:t>Deliverables</a:t>
            </a:r>
          </a:p>
        </p:txBody>
      </p:sp>
      <p:sp>
        <p:nvSpPr>
          <p:cNvPr id="1048701" name="Date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702" name="Footer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ctr">
              <a:buNone/>
            </a:pPr>
          </a:p>
        </p:txBody>
      </p:sp>
      <p:sp>
        <p:nvSpPr>
          <p:cNvPr id="1048703" name="Slide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r">
              <a:buNone/>
            </a:pPr>
            <a:fld id="{00000000-1234-1234-1234-123412341234}" type="slidenum">
              <a:rPr lang="en-US"/>
              <a:t>14</a:t>
            </a:fld>
          </a:p>
        </p:txBody>
      </p:sp>
      <p:sp>
        <p:nvSpPr>
          <p:cNvPr id="6097000" name="Card6097000"/>
          <p:cNvSpPr/>
          <p:nvPr/>
        </p:nvSpPr>
        <p:spPr>
          <a:xfrm>
            <a:off x="609600" y="15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Excel Workbook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Cleaned dataset &amp; source tables</a:t>
            </a:r>
          </a:p>
        </p:txBody>
      </p:sp>
      <p:sp>
        <p:nvSpPr>
          <p:cNvPr id="6097001" name="Card6097001"/>
          <p:cNvSpPr/>
          <p:nvPr/>
        </p:nvSpPr>
        <p:spPr>
          <a:xfrm>
            <a:off x="3402800" y="15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Project Description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Problem, objectives &amp; scope</a:t>
            </a:r>
          </a:p>
        </p:txBody>
      </p:sp>
      <p:sp>
        <p:nvSpPr>
          <p:cNvPr id="6097002" name="Card6097002"/>
          <p:cNvSpPr/>
          <p:nvPr/>
        </p:nvSpPr>
        <p:spPr>
          <a:xfrm>
            <a:off x="6196000" y="15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FBF6E9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D7B119"/>
                </a:solidFill>
              </a:rPr>
              <a:t>PowerPoint Deck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This presentation</a:t>
            </a:r>
          </a:p>
        </p:txBody>
      </p:sp>
      <p:sp>
        <p:nvSpPr>
          <p:cNvPr id="6097003" name="Card6097003"/>
          <p:cNvSpPr/>
          <p:nvPr/>
        </p:nvSpPr>
        <p:spPr>
          <a:xfrm>
            <a:off x="8989200" y="15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Source Code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DAX measures &amp; Power Query steps</a:t>
            </a:r>
          </a:p>
        </p:txBody>
      </p:sp>
      <p:sp>
        <p:nvSpPr>
          <p:cNvPr id="6097004" name="Card6097004"/>
          <p:cNvSpPr/>
          <p:nvPr/>
        </p:nvSpPr>
        <p:spPr>
          <a:xfrm>
            <a:off x="609600" y="36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Live Application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Published public Power BI dashboard</a:t>
            </a:r>
          </a:p>
        </p:txBody>
      </p:sp>
      <p:sp>
        <p:nvSpPr>
          <p:cNvPr id="6097005" name="Card6097005"/>
          <p:cNvSpPr/>
          <p:nvPr/>
        </p:nvSpPr>
        <p:spPr>
          <a:xfrm>
            <a:off x="3402800" y="36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FBF6E9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D7B119"/>
                </a:solidFill>
              </a:rPr>
              <a:t>Documentation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Full technical write-up</a:t>
            </a:r>
          </a:p>
        </p:txBody>
      </p:sp>
      <p:sp>
        <p:nvSpPr>
          <p:cNvPr id="6097006" name="Card6097006"/>
          <p:cNvSpPr/>
          <p:nvPr/>
        </p:nvSpPr>
        <p:spPr>
          <a:xfrm>
            <a:off x="6196000" y="36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Video Walkthrough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4-minute dashboard demo</a:t>
            </a:r>
          </a:p>
        </p:txBody>
      </p:sp>
      <p:sp>
        <p:nvSpPr>
          <p:cNvPr id="6097007" name="Card6097007"/>
          <p:cNvSpPr/>
          <p:nvPr/>
        </p:nvSpPr>
        <p:spPr>
          <a:xfrm>
            <a:off x="8989200" y="3650000"/>
            <a:ext cx="2593200" cy="185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GitHub Repository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All project files hosted publicly</a:t>
            </a:r>
          </a:p>
        </p:txBody>
      </p:sp>
      <p:sp>
        <p:nvSpPr>
          <p:cNvPr id="6097020" name="Note"/>
          <p:cNvSpPr/>
          <p:nvPr/>
        </p:nvSpPr>
        <p:spPr>
          <a:xfrm>
            <a:off x="609600" y="5900000"/>
            <a:ext cx="10972800" cy="500000"/>
          </a:xfrm>
          <a:prstGeom prst="rect"/>
          <a:noFill/>
          <a:ln>
            <a:noFill/>
          </a:ln>
        </p:spPr>
        <p:txBody>
          <a:bodyPr anchor="t" wrap="square"/>
          <a:p>
            <a:pPr algn="l">
              <a:buNone/>
            </a:pPr>
            <a:r>
              <a:rPr lang="en-US" sz="1400" i="1" dirty="0">
                <a:solidFill>
                  <a:srgbClr val="595959"/>
                </a:solidFill>
              </a:rPr>
              <a:t>All deliverables will be consolidated and hosted in a single public GitHub repository.</a:t>
            </a:r>
          </a:p>
        </p:txBody>
      </p:sp>
      <p:pic>
        <p:nvPicPr>
          <p:cNvPr id="2097200" name="Logo"/>
          <p:cNvPicPr preferRelativeResize="0"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"/>
          <p:cNvSpPr txBox="1">
            <a:spLocks noGrp="1"/>
          </p:cNvSpPr>
          <p:nvPr>
            <p:ph type="title"/>
          </p:nvPr>
        </p:nvSpPr>
        <p:spPr>
          <a:xfrm>
            <a:off x="1700000" y="396000"/>
            <a:ext cx="9882400" cy="800000"/>
          </a:xfrm>
          <a:prstGeom prst="rect"/>
          <a:noFill/>
          <a:ln>
            <a:noFill/>
          </a:ln>
        </p:spPr>
        <p:txBody>
          <a:bodyPr anchor="ctr" wrap="square">
            <a:normAutofit/>
          </a:bodyPr>
          <a:p>
            <a:pPr algn="l">
              <a:buNone/>
            </a:pPr>
            <a:r>
              <a:rPr lang="en-US" sz="3200" b="1" dirty="0">
                <a:solidFill>
                  <a:srgbClr val="047954"/>
                </a:solidFill>
              </a:rPr>
              <a:t>Project Team &amp; Roles</a:t>
            </a:r>
          </a:p>
        </p:txBody>
      </p:sp>
      <p:sp>
        <p:nvSpPr>
          <p:cNvPr id="1048711" name="Date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r>
              <a:rPr dirty="0" lang="en-US"/>
              <a:t>July 2026</a:t>
            </a:r>
          </a:p>
        </p:txBody>
      </p:sp>
      <p:sp>
        <p:nvSpPr>
          <p:cNvPr id="1048712" name="Footer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ctr">
              <a:buNone/>
            </a:pPr>
          </a:p>
        </p:txBody>
      </p:sp>
      <p:sp>
        <p:nvSpPr>
          <p:cNvPr id="1048713" name="SlideNum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/>
          <a:noFill/>
          <a:ln>
            <a:noFill/>
          </a:ln>
        </p:spPr>
        <p:txBody>
          <a:bodyPr anchor="ctr" wrap="square">
            <a:noAutofit/>
          </a:bodyPr>
          <a:p>
            <a:pPr algn="r">
              <a:buNone/>
            </a:pPr>
            <a:fld id="{00000000-1234-1234-1234-123412341234}" type="slidenum">
              <a:rPr lang="en-US"/>
              <a:t>15</a:t>
            </a:fld>
          </a:p>
        </p:txBody>
      </p:sp>
      <p:sp>
        <p:nvSpPr>
          <p:cNvPr id="7097001" name="Card7097001"/>
          <p:cNvSpPr/>
          <p:nvPr/>
        </p:nvSpPr>
        <p:spPr>
          <a:xfrm>
            <a:off x="609600" y="1550000"/>
            <a:ext cx="2593200" cy="420000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336EA8"/>
                </a:solidFill>
              </a:rPr>
              <a:t>Youssef Sami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Data Cleaning &amp; Modelling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Cleaned and structured the raw data in Excel &amp; Power Query, and built the Star Schema data model (Fact/Dimension tables and relationships).</a:t>
            </a:r>
          </a:p>
        </p:txBody>
      </p:sp>
      <p:sp>
        <p:nvSpPr>
          <p:cNvPr id="7097002" name="Card7097002"/>
          <p:cNvSpPr/>
          <p:nvPr/>
        </p:nvSpPr>
        <p:spPr>
          <a:xfrm>
            <a:off x="3402800" y="1550000"/>
            <a:ext cx="2593200" cy="4200000"/>
          </a:xfrm>
          <a:prstGeom prst="roundRect">
            <a:avLst>
              <a:gd name="adj" fmla="val 5000"/>
            </a:avLst>
          </a:prstGeom>
          <a:solidFill>
            <a:srgbClr val="EEF7F3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047954"/>
                </a:solidFill>
              </a:rPr>
              <a:t>Rana Essam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Calculations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Built the core DAX measures (Gross Margin, Net Profit, Turnover, Reorder Point) on top of the data model and verified all financial logic.</a:t>
            </a:r>
          </a:p>
        </p:txBody>
      </p:sp>
      <p:sp>
        <p:nvSpPr>
          <p:cNvPr id="7097003" name="Card7097003"/>
          <p:cNvSpPr/>
          <p:nvPr/>
        </p:nvSpPr>
        <p:spPr>
          <a:xfrm>
            <a:off x="6196000" y="1550000"/>
            <a:ext cx="2593200" cy="4200000"/>
          </a:xfrm>
          <a:prstGeom prst="roundRect">
            <a:avLst>
              <a:gd name="adj" fmla="val 5000"/>
            </a:avLst>
          </a:prstGeom>
          <a:solidFill>
            <a:srgbClr val="FBF6E9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D7B119"/>
                </a:solidFill>
              </a:rPr>
              <a:t>Hend Khaled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Visualization &amp; Documentation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Designed the dashboard UI, page navigation and color palette; authored the full technical documentation.</a:t>
            </a:r>
          </a:p>
        </p:txBody>
      </p:sp>
      <p:sp>
        <p:nvSpPr>
          <p:cNvPr id="7097004" name="Card7097004"/>
          <p:cNvSpPr/>
          <p:nvPr/>
        </p:nvSpPr>
        <p:spPr>
          <a:xfrm>
            <a:off x="8989200" y="1550000"/>
            <a:ext cx="2593200" cy="4200000"/>
          </a:xfrm>
          <a:prstGeom prst="roundRect">
            <a:avLst>
              <a:gd name="adj" fmla="val 5000"/>
            </a:avLst>
          </a:prstGeom>
          <a:solidFill>
            <a:srgbClr val="FBF6E9"/>
          </a:solidFill>
          <a:ln w="0">
            <a:noFill/>
          </a:ln>
          <a:effectLst>
            <a:outerShdw blurRad="90000" dist="20000" dir="5400000" rotWithShape="0">
              <a:srgbClr val="000000">
                <a:alpha val="12000"/>
              </a:srgbClr>
            </a:outerShdw>
          </a:effectLst>
        </p:spPr>
        <p:txBody>
          <a:bodyPr lIns="274320" tIns="274320" rIns="228600" bIns="228600" anchor="t" wrap="square">
            <a:normAutofit/>
          </a:bodyPr>
          <a:p>
            <a:pPr algn="l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D7B119"/>
                </a:solidFill>
              </a:rPr>
              <a:t>Mahmoud Allam</a:t>
            </a:r>
          </a:p>
          <a:p>
            <a:pPr algn="l"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04040"/>
                </a:solidFill>
              </a:rPr>
              <a:t>Visualization</a:t>
            </a:r>
          </a:p>
          <a:p>
            <a:pPr algn="l"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04040"/>
                </a:solidFill>
              </a:rPr>
              <a:t>Designed dashboard visuals, trend lines, and the interactive layout tabs alongside Hend.</a:t>
            </a:r>
          </a:p>
        </p:txBody>
      </p:sp>
      <p:sp>
        <p:nvSpPr>
          <p:cNvPr id="7097020" name="Note"/>
          <p:cNvSpPr/>
          <p:nvPr/>
        </p:nvSpPr>
        <p:spPr>
          <a:xfrm>
            <a:off x="609600" y="5900000"/>
            <a:ext cx="10972800" cy="500000"/>
          </a:xfrm>
          <a:prstGeom prst="rect"/>
          <a:noFill/>
          <a:ln>
            <a:noFill/>
          </a:ln>
        </p:spPr>
        <p:txBody>
          <a:bodyPr anchor="t" wrap="square"/>
          <a:p>
            <a:pPr algn="l">
              <a:buNone/>
            </a:pPr>
            <a:r>
              <a:rPr lang="en-US" sz="1400" i="1" dirty="0">
                <a:solidFill>
                  <a:srgbClr val="595959"/>
                </a:solidFill>
              </a:rPr>
              <a:t>Coordination: the team worked closely together, continuously cross-checking calculations against visuals to keep the dashboard accurate.</a:t>
            </a:r>
          </a:p>
        </p:txBody>
      </p:sp>
      <p:pic>
        <p:nvPicPr>
          <p:cNvPr id="2097210" name="Logo"/>
          <p:cNvPicPr preferRelativeResize="0">
            <a:picLocks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9010943" y="6291124"/>
            <a:ext cx="1362250" cy="3651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SAMA</dc:creator>
  <cp:lastModifiedBy>محمد اشرف عبدالله مطر</cp:lastModifiedBy>
  <dcterms:created xsi:type="dcterms:W3CDTF">2024-03-14T06:03:54Z</dcterms:created>
  <dcterms:modified xsi:type="dcterms:W3CDTF">2026-07-01T14:09:49Z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e1729cbd30b343a99064281072b66a1d_23</vt:lpwstr>
  </property>
</Properties>
</file>